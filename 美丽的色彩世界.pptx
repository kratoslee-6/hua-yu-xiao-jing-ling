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notesMaster" Target="notesMasters/notesMaster1.xml"/>
    <Relationship Id="rId4" Type="http://schemas.openxmlformats.org/officeDocument/2006/relationships/slide" Target="slides/slide1.xml"/>
  <Relationship Id="rId5" Type="http://schemas.openxmlformats.org/officeDocument/2006/relationships/slide" Target="slides/slide2.xml"/>
  <Relationship Id="rId6" Type="http://schemas.openxmlformats.org/officeDocument/2006/relationships/slide" Target="slides/slide3.xml"/>
  <Relationship Id="rId7" Type="http://schemas.openxmlformats.org/officeDocument/2006/relationships/slide" Target="slides/slide4.xml"/>
  <Relationship Id="rId8" Type="http://schemas.openxmlformats.org/officeDocument/2006/relationships/slide" Target="slides/slide5.xml"/>
  <Relationship Id="rId9" Type="http://schemas.openxmlformats.org/officeDocument/2006/relationships/slide" Target="slides/slide6.xml"/>
  <Relationship Id="rId10" Type="http://schemas.openxmlformats.org/officeDocument/2006/relationships/slide" Target="slides/slide7.xml"/>
  <Relationship Id="rId11" Type="http://schemas.openxmlformats.org/officeDocument/2006/relationships/slide" Target="slides/slide8.xml"/>

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/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Slide xmlns:a="http://schemas.openxmlformats.org/drawingml/2006/main" xmlns:r="http://schemas.openxmlformats.org/officeDocument/2006/relationships" xmlns:p="http://schemas.openxmlformats.org/presentationml/2006/main">
  <p:cSld>
    <p:sp>
      <p:nvSpPr>
        <p:cNvPr id="1" name="Notes"/>
        <p:cNvSpPr>
          <a:spLocks noGrp="1"/>
        </p:cNvSpPr>
        <p:nvPr/>
      </p:nvSpPr>
      <p:spPr>
        <a:xfrm>
          <a:off x="0" y="0"/>
          <a:ext cx="6858000" cy="9144000"/>
        </a:xfrm>
      </p:spPr>
      <p:txBody>
        <a:bodyPr/>
        <a:lstStyle/>
        <a:p/>
      </p:txBody>
    </p:sp>
  </p:cSld>
</p:notesSlide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/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ldLayoutIdLst>
      <p:sldLayoutId id="2147483649" r:id="rId1"/>
    </p:sldLayoutIdLst>
  </p:cSld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>
      <p:nvSpPr>
        <p:cNvPr id="1" name="AccentBar"/>
        <p:cNvSpPr>
          <a:spLocks noGrp="1"/>
        </p:cNvSpPr>
        <p:nvPr/>
      </p:nvSpPr>
      <p:spPr>
        <a:xfrm>
          <a:off x="0" y="0"/>
          <a:ext cx="12192000" y="80000"/>
        </a:xfrm>
        <a:solidFill>
          <a:srgbClr val="E8783B"/>
        </a:solidFill>
      </p:spPr>
    </p:sp>
    <p:sp>
      <p:nvSpPr>
        <p:cNvPr id="2" name="SideBar"/>
        <p:cNvSpPr>
          <a:spLocks noGrp="1"/>
        </p:cNvSpPr>
        <p:nvPr/>
      </p:nvSpPr>
      <p:spPr>
        <a:xfrm>
          <a:off x="0" y="0"/>
          <a:ext cx="400000" cy="6858000"/>
        </a:xfrm>
        <a:solidFill>
          <a:srgbClr val="E8783B">
            <a:alpha val="15000"/>
          </a:srgbClr>
        </a:solidFill>
      </p:spPr>
    </p:sp>
    <p:sp>
      <p:nvSpPr>
        <p:cNvPr id="3" name="Title"/>
        <p:cNvSpPr>
          <a:spLocks noGrp="1"/>
        </p:cNvSpPr>
        <p:nvPr/>
      </p:nvSpPr>
      <p:spPr>
        <a:xfrm>
          <a:off x="1300000" y="1800000"/>
          <a:ext cx="10000000" cy="1500000"/>
        </a:xfrm>
      </p:spPr>
      <p:txBody>
        <a:bodyPr/>
        <a:lstStyle/>
        <a:p>
          <a:r>
            <a:rPr lang="zh-CN" sz="3600" b="1">
              <a:solidFill>
                <a:srgbClr val="E8783B"/>
              </a:solidFill>
            </a:rPr>
            <a:t>《小学美术课教案》</a:t>
          </a:r>
        </a:p>
        <a:p>
          <a:r>
            <a:rPr lang="zh-CN" sz="3600" b="1">
              <a:solidFill>
                <a:srgbClr val="E8783B"/>
              </a:solidFill>
            </a:rPr>
            <a:t>教学设计</a:t>
          </a:r>
        </a:p>
      </p:txBody>
    </p:sp>
    <p:sp>
      <p:nvSpPr>
        <p:cNvPr id="4" name="Subtitle"/>
        <p:cNvSpPr>
          <a:spLocks noGrp="1"/>
        </p:cNvSpPr>
        <p:nvPr/>
      </p:nvSpPr>
      <p:spPr>
        <a:xfrm>
          <a:off x="1300000" y="3500000"/>
          <a:ext cx="10000000" cy="600000"/>
        </a:xfrm>
      </p:spPr>
      <p:txBody>
        <a:bodyPr/>
        <a:lstStyle/>
        <a:p>
          <a:r>
            <a:rPr lang="zh-CN" sz="1600">
              <a:solidFill>
                <a:srgbClr val="A0988C"/>
              </a:solidFill>
            </a:rPr>
            <a:t/>
          </a:r>
        </a:p>
      </p:txBody>
    </p:sp>
    <p:sp>
      <p:nvSpPr>
        <p:cNvPr id="5" name="Footer"/>
        <p:cNvSpPr>
          <a:spLocks noGrp="1"/>
        </p:cNvSpPr>
        <p:nvPr/>
      </p:nvSpPr>
      <p:spPr>
        <a:xfrm>
          <a:off x="1300000" y="5000000"/>
          <a:ext cx="10000000" cy="400000"/>
        </a:xfrm>
      </p:spPr>
      <p:txBody>
        <a:bodyPr/>
        <a:lstStyle/>
        <a:p>
          <a:r>
            <a:rPr lang="zh-CN" sz="1000">
              <a:solidFill>
                <a:srgbClr val="A0988C"/>
              </a:solidFill>
            </a:rPr>
            <a:t>基于《义务教育艺术课程标准（2022年版）》| 画语小精灵</a:t>
          </a:r>
        </a:p>
      </p:txBody>
    </p:sp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>
      <p:nvSpPr>
        <p:cNvPr id="12" name="AccentBar"/>
        <p:cNvSpPr>
          <a:spLocks noGrp="1"/>
        </p:cNvSpPr>
        <p:nvPr/>
      </p:nvSpPr>
      <p:spPr>
        <a:xfrm>
          <a:off x="0" y="0"/>
          <a:ext cx="12192000" y="60000"/>
        </a:xfrm>
        <a:solidFill>
          <a:srgbClr val="E8783B"/>
        </a:solidFill>
      </p:spPr>
    </p:sp>
    <p:sp>
      <p:nvSpPr>
        <p:cNvPr id="10" name="Title"/>
        <p:cNvSpPr>
          <a:spLocks noGrp="1"/>
        </p:cNvSpPr>
        <p:nvPr/>
      </p:nvSpPr>
      <p:spPr>
        <a:xfrm>
          <a:off x="600000" y="250000"/>
          <a:ext cx="11000000" cy="700000"/>
        </a:xfrm>
      </p:spPr>
      <p:txBody>
        <a:bodyPr/>
        <a:lstStyle/>
        <a:p>
          <a:r>
            <a:rPr lang="zh-CN" sz="2400" b="1">
              <a:solidFill>
                <a:srgbClr val="E8783B"/>
              </a:solidFill>
            </a:rPr>
            <a:t>🎯 教学目标</a:t>
          </a:r>
        </a:p>
      </p:txBody>
    </p:sp>
    <p:sp>
      <p:nvSpPr>
        <p:cNvPr id="11" name="Body"/>
        <p:cNvSpPr>
          <a:spLocks noGrp="1"/>
        </p:cNvSpPr>
        <p:nvPr/>
      </p:nvSpPr>
      <p:spPr>
        <a:xfrm>
          <a:off x="800000" y="1200000"/>
          <a:ext cx="10600000" cy="5000000"/>
        </a:xfrm>
      </p:spPr>
      <p:txBody>
        <a:bodyPr wrap="square" rtlCol="0"/>
        <a:lstStyle/>
        <a:p>
          <a:r>
            <a:rPr lang="zh-CN" sz="1400">
              <a:solidFill>
                <a:srgbClr val="2D2D2D"/>
              </a:solidFill>
            </a:rPr>
            <a:t>三、教学目标（核心素养导向）</a:t>
          </a:r>
          <a:r>
            <a:rPr lang="zh-CN" sz="1400"/>
            <a:t>### 🟢 审美感知</a:t>
          </a:r>
          <a:r>
            <a:rPr lang="zh-CN" sz="1400"/>
            <a:t>- 观察并描述敦煌壁画及日常作品中的色彩搭配特点</a:t>
          </a:r>
          <a:r>
            <a:rPr lang="zh-CN" sz="1400"/>
            <a:t>- 感受色彩冷暖、明暗、对比带来的不同视觉感受</a:t>
          </a:r>
          <a:r>
            <a:rPr lang="zh-CN" sz="1400"/>
            <a:t>### 🟡 艺术表现</a:t>
          </a:r>
          <a:r>
            <a:rPr lang="zh-CN" sz="1400"/>
            <a:t>- 学会运用邻近色、对比色进行简单配色</a:t>
          </a:r>
          <a:r>
            <a:rPr lang="zh-CN" sz="1400"/>
            <a:t>- 掌握色相环的基本概念，能够在创作中自觉运用色彩规律</a:t>
          </a:r>
          <a:r>
            <a:rPr lang="zh-CN" sz="1400"/>
            <a:t>### 🔵 创意实践</a:t>
          </a:r>
          <a:r>
            <a:rPr lang="zh-CN" sz="1400"/>
            <a:t>- 根据敦煌壁画的配色灵感，创作一组色彩协调的作品</a:t>
          </a:r>
          <a:r>
            <a:rPr lang="zh-CN" sz="1400"/>
            <a:t>- 尝试用色彩表达自己对“美”的理解</a:t>
          </a:r>
          <a:r>
            <a:rPr lang="zh-CN" sz="1400"/>
            <a:t>### 🟣 文化理解</a:t>
          </a:r>
          <a:r>
            <a:rPr lang="zh-CN" sz="1400"/>
            <a:t>- 了解敦煌壁画的基本艺术特征及色彩背后的文化含义</a:t>
          </a:r>
          <a:r>
            <a:rPr lang="zh-CN" sz="1400"/>
            <a:t>- 感受中华民族优秀传统文化的独特魅力，增强文化自信</a:t>
          </a:r>
          <a:r>
            <a:rPr lang="zh-CN" sz="1400"/>
            <a:t>---</a:t>
          </a:r>
          <a:r>
            <a:rPr lang="zh-CN" sz="1400"/>
            <a:t>##</a:t>
          </a:r>
        </a:p>
      </p:txBody>
    </p:sp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>
      <p:nvSpPr>
        <p:cNvPr id="22" name="AccentBar"/>
        <p:cNvSpPr>
          <a:spLocks noGrp="1"/>
        </p:cNvSpPr>
        <p:nvPr/>
      </p:nvSpPr>
      <p:spPr>
        <a:xfrm>
          <a:off x="0" y="0"/>
          <a:ext cx="12192000" y="60000"/>
        </a:xfrm>
        <a:solidFill>
          <a:srgbClr val="E8783B"/>
        </a:solidFill>
      </p:spPr>
    </p:sp>
    <p:sp>
      <p:nvSpPr>
        <p:cNvPr id="20" name="Title"/>
        <p:cNvSpPr>
          <a:spLocks noGrp="1"/>
        </p:cNvSpPr>
        <p:nvPr/>
      </p:nvSpPr>
      <p:spPr>
        <a:xfrm>
          <a:off x="600000" y="250000"/>
          <a:ext cx="11000000" cy="700000"/>
        </a:xfrm>
      </p:spPr>
      <p:txBody>
        <a:bodyPr/>
        <a:lstStyle/>
        <a:p>
          <a:r>
            <a:rPr lang="zh-CN" sz="2400" b="1">
              <a:solidFill>
                <a:srgbClr val="E8783B"/>
              </a:solidFill>
            </a:rPr>
            <a:t>📌 教学重难点</a:t>
          </a:r>
        </a:p>
      </p:txBody>
    </p:sp>
    <p:sp>
      <p:nvSpPr>
        <p:cNvPr id="21" name="Body"/>
        <p:cNvSpPr>
          <a:spLocks noGrp="1"/>
        </p:cNvSpPr>
        <p:nvPr/>
      </p:nvSpPr>
      <p:spPr>
        <a:xfrm>
          <a:off x="800000" y="1200000"/>
          <a:ext cx="10600000" cy="5000000"/>
        </a:xfrm>
      </p:spPr>
      <p:txBody>
        <a:bodyPr wrap="square" rtlCol="0"/>
        <a:lstStyle/>
        <a:p>
          <a:r>
            <a:rPr lang="zh-CN" sz="1400">
              <a:solidFill>
                <a:srgbClr val="2D2D2D"/>
              </a:solidFill>
            </a:rPr>
            <a:t>四、教学重难点</a:t>
          </a:r>
          <a:r>
            <a:rPr lang="zh-CN" sz="1400"/>
            <a:t>### 教学重点</a:t>
          </a:r>
          <a:r>
            <a:rPr lang="zh-CN" sz="1400"/>
            <a:t>色彩搭配的基本规律——邻近色与对比色的认识与运用。</a:t>
          </a:r>
          <a:r>
            <a:rPr lang="zh-CN" sz="1400"/>
            <a:t>### 教学难点</a:t>
          </a:r>
          <a:r>
            <a:rPr lang="zh-CN" sz="1400"/>
            <a:t>将色彩知识转化为创作实践，实现色彩搭配的协调与美感。</a:t>
          </a:r>
          <a:r>
            <a:rPr lang="zh-CN" sz="1400"/>
            <a:t>### 突破策略</a:t>
          </a:r>
          <a:r>
            <a:rPr lang="zh-CN" sz="1400"/>
            <a:t>| 难点 | 策略 |</a:t>
          </a:r>
          <a:r>
            <a:rPr lang="zh-CN" sz="1400"/>
            <a:t>|:-----|:-----|</a:t>
          </a:r>
          <a:r>
            <a:rPr lang="zh-CN" sz="1400"/>
            <a:t>| 色彩搭配规律的理解 | 借助色相环教具，通过“找朋友”游戏直观呈现邻近色、对比色关系 |</a:t>
          </a:r>
          <a:r>
            <a:rPr lang="zh-CN" sz="1400"/>
            <a:t>| 从知识到创作的转化 | 提供分层创作支架——提供配色参考卡，允许学生根据能力选择不同难度 |</a:t>
          </a:r>
          <a:r>
            <a:rPr lang="zh-CN" sz="1400"/>
            <a:t>| 色彩协调感的培养 | 引导学生“先定主色，再选辅色”，建立配色逻辑思维 |</a:t>
          </a:r>
          <a:r>
            <a:rPr lang="zh-CN" sz="1400"/>
            <a:t>---</a:t>
          </a:r>
        </a:p>
      </p:txBody>
    </p:sp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>
      <p:nvSpPr>
        <p:cNvPr id="32" name="AccentBar"/>
        <p:cNvSpPr>
          <a:spLocks noGrp="1"/>
        </p:cNvSpPr>
        <p:nvPr/>
      </p:nvSpPr>
      <p:spPr>
        <a:xfrm>
          <a:off x="0" y="0"/>
          <a:ext cx="12192000" y="60000"/>
        </a:xfrm>
        <a:solidFill>
          <a:srgbClr val="E8783B"/>
        </a:solidFill>
      </p:spPr>
    </p:sp>
    <p:sp>
      <p:nvSpPr>
        <p:cNvPr id="30" name="Title"/>
        <p:cNvSpPr>
          <a:spLocks noGrp="1"/>
        </p:cNvSpPr>
        <p:nvPr/>
      </p:nvSpPr>
      <p:spPr>
        <a:xfrm>
          <a:off x="600000" y="250000"/>
          <a:ext cx="11000000" cy="700000"/>
        </a:xfrm>
      </p:spPr>
      <p:txBody>
        <a:bodyPr/>
        <a:lstStyle/>
        <a:p>
          <a:r>
            <a:rPr lang="zh-CN" sz="2400" b="1">
              <a:solidFill>
                <a:srgbClr val="E8783B"/>
              </a:solidFill>
            </a:rPr>
            <a:t>环节1：激趣导入</a:t>
          </a:r>
        </a:p>
      </p:txBody>
    </p:sp>
    <p:sp>
      <p:nvSpPr>
        <p:cNvPr id="31" name="Body"/>
        <p:cNvSpPr>
          <a:spLocks noGrp="1"/>
        </p:cNvSpPr>
        <p:nvPr/>
      </p:nvSpPr>
      <p:spPr>
        <a:xfrm>
          <a:off x="800000" y="1200000"/>
          <a:ext cx="10600000" cy="5000000"/>
        </a:xfrm>
      </p:spPr>
      <p:txBody>
        <a:bodyPr wrap="square" rtlCol="0"/>
        <a:lstStyle/>
        <a:p>
          <a:r>
            <a:rPr lang="zh-CN" sz="1400">
              <a:solidFill>
                <a:srgbClr val="2D2D2D"/>
              </a:solidFill>
            </a:rPr>
            <a:t>激趣导入**（约5分钟）</a:t>
          </a:r>
          <a:r>
            <a:rPr lang="zh-CN" sz="1400"/>
            <a:t>&gt; 🔑 问题驱动——激发兴趣，建立联结</a:t>
          </a:r>
          <a:r>
            <a:rPr lang="zh-CN" sz="1400"/>
            <a:t>**教学活动：**</a:t>
          </a:r>
          <a:r>
            <a:rPr lang="zh-CN" sz="1400"/>
            <a:t>“色彩猜猜猜”游戏。教师展示一幅去掉色彩的敦煌壁画线描稿，请学生闭眼想象：如果要给这幅壁画涂色，你会选择什么颜色？为什么？</a:t>
          </a:r>
          <a:r>
            <a:rPr lang="zh-CN" sz="1400"/>
            <a:t>**教师行为：**</a:t>
          </a:r>
          <a:r>
            <a:rPr lang="zh-CN" sz="1400"/>
            <a:t>1. 出示敦煌壁画线描稿（或PPT展示）</a:t>
          </a:r>
          <a:r>
            <a:rPr lang="zh-CN" sz="1400"/>
            <a:t>2. 讲述简短背景：“这幅画来自敦煌莫高窟，已经有1000多年的历史了，古人用绚丽的色彩让它变得非常美丽”</a:t>
          </a:r>
          <a:r>
            <a:rPr lang="zh-CN" sz="1400"/>
            <a:t>3. 引导学生闭眼想象并分享</a:t>
          </a:r>
          <a:r>
            <a:rPr lang="zh-CN" sz="1400"/>
            <a:t>4. 板书课题：美丽的色彩世界</a:t>
          </a:r>
          <a:r>
            <a:rPr lang="zh-CN" sz="1400"/>
            <a:t>**设计意图：**</a:t>
          </a:r>
          <a:r>
            <a:rPr lang="zh-CN" sz="1400"/>
            <a:t>以问题激发学生思考，将敦煌壁画作为色彩探究的起点，自然引入主题。通过“想象涂色”的方式，让每个学生都参与进来，产生学习的内在动力。同时渗透文化意识，为后续环节埋下伏笔。</a:t>
          </a:r>
          <a:r>
            <a:rPr lang="zh-CN" sz="1400"/>
            <a:t>---</a:t>
          </a:r>
        </a:p>
      </p:txBody>
    </p:sp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>
      <p:nvSpPr>
        <p:cNvPr id="42" name="AccentBar"/>
        <p:cNvSpPr>
          <a:spLocks noGrp="1"/>
        </p:cNvSpPr>
        <p:nvPr/>
      </p:nvSpPr>
      <p:spPr>
        <a:xfrm>
          <a:off x="0" y="0"/>
          <a:ext cx="12192000" y="60000"/>
        </a:xfrm>
        <a:solidFill>
          <a:srgbClr val="F4A261"/>
        </a:solidFill>
      </p:spPr>
    </p:sp>
    <p:sp>
      <p:nvSpPr>
        <p:cNvPr id="40" name="Title"/>
        <p:cNvSpPr>
          <a:spLocks noGrp="1"/>
        </p:cNvSpPr>
        <p:nvPr/>
      </p:nvSpPr>
      <p:spPr>
        <a:xfrm>
          <a:off x="600000" y="250000"/>
          <a:ext cx="11000000" cy="700000"/>
        </a:xfrm>
      </p:spPr>
      <p:txBody>
        <a:bodyPr/>
        <a:lstStyle/>
        <a:p>
          <a:r>
            <a:rPr lang="zh-CN" sz="2400" b="1">
              <a:solidFill>
                <a:srgbClr val="F4A261"/>
              </a:solidFill>
            </a:rPr>
            <a:t>环节2：探究新知</a:t>
          </a:r>
        </a:p>
      </p:txBody>
    </p:sp>
    <p:sp>
      <p:nvSpPr>
        <p:cNvPr id="41" name="Body"/>
        <p:cNvSpPr>
          <a:spLocks noGrp="1"/>
        </p:cNvSpPr>
        <p:nvPr/>
      </p:nvSpPr>
      <p:spPr>
        <a:xfrm>
          <a:off x="800000" y="1200000"/>
          <a:ext cx="10600000" cy="5000000"/>
        </a:xfrm>
      </p:spPr>
      <p:txBody>
        <a:bodyPr wrap="square" rtlCol="0"/>
        <a:lstStyle/>
        <a:p>
          <a:r>
            <a:rPr lang="zh-CN" sz="1400">
              <a:solidFill>
                <a:srgbClr val="2D2D2D"/>
              </a:solidFill>
            </a:rPr>
            <a:t>探究新知**（约10分钟）</a:t>
          </a:r>
          <a:r>
            <a:rPr lang="zh-CN" sz="1400"/>
            <a:t>&gt; 🎨 协作探究——认识色彩搭配规律</a:t>
          </a:r>
          <a:r>
            <a:rPr lang="zh-CN" sz="1400"/>
            <a:t>**教学活动：**</a:t>
          </a:r>
          <a:r>
            <a:rPr lang="zh-CN" sz="1400"/>
            <a:t>“色彩魔法师”探究任务</a:t>
          </a:r>
          <a:r>
            <a:rPr lang="zh-CN" sz="1400"/>
            <a:t>**任务一：认识色相环**（4分钟）</a:t>
          </a:r>
          <a:r>
            <a:rPr lang="zh-CN" sz="1400"/>
            <a:t>1. 出示三原色（红、黄、蓝）教具，请学生观察</a:t>
          </a:r>
          <a:r>
            <a:rPr lang="zh-CN" sz="1400"/>
            <a:t>2. 演示三原色两两混合产生的三间色（橙、绿、紫）</a:t>
          </a:r>
          <a:r>
            <a:rPr lang="zh-CN" sz="1400"/>
            <a:t>3. 展示完整色相环，引导学生发现规律：“红、橙、黄、绿、蓝、紫，像彩虹一样排成一圈”</a:t>
          </a:r>
          <a:r>
            <a:rPr lang="zh-CN" sz="1400"/>
            <a:t>4. 请学生用手指出色相环上相邻的颜色，引出“邻居”的概念</a:t>
          </a:r>
          <a:r>
            <a:rPr lang="zh-CN" sz="1400"/>
            <a:t>**任务二：色彩找朋友**（6分钟）</a:t>
          </a:r>
          <a:r>
            <a:rPr lang="zh-CN" sz="1400"/>
            <a:t>1. 分发配色卡片，每张卡片写有不同颜色名称</a:t>
          </a:r>
          <a:r>
            <a:rPr lang="zh-CN" sz="1400"/>
            <a:t>2. 宣布规则：颜色也有朋友！相邻的朋友叫“邻近色”，隔着坐的朋友叫“对比色”</a:t>
          </a:r>
        </a:p>
      </p:txBody>
    </p:sp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>
      <p:nvSpPr>
        <p:cNvPr id="82" name="AccentBar"/>
        <p:cNvSpPr>
          <a:spLocks noGrp="1"/>
        </p:cNvSpPr>
        <p:nvPr/>
      </p:nvSpPr>
      <p:spPr>
        <a:xfrm>
          <a:off x="0" y="0"/>
          <a:ext cx="12192000" y="60000"/>
        </a:xfrm>
        <a:solidFill>
          <a:srgbClr val="52B788"/>
        </a:solidFill>
      </p:spPr>
    </p:sp>
    <p:sp>
      <p:nvSpPr>
        <p:cNvPr id="80" name="Title"/>
        <p:cNvSpPr>
          <a:spLocks noGrp="1"/>
        </p:cNvSpPr>
        <p:nvPr/>
      </p:nvSpPr>
      <p:spPr>
        <a:xfrm>
          <a:off x="600000" y="250000"/>
          <a:ext cx="11000000" cy="700000"/>
        </a:xfrm>
      </p:spPr>
      <p:txBody>
        <a:bodyPr/>
        <a:lstStyle/>
        <a:p>
          <a:r>
            <a:rPr lang="zh-CN" sz="2400" b="1">
              <a:solidFill>
                <a:srgbClr val="52B788"/>
              </a:solidFill>
            </a:rPr>
            <a:t>📊 评价设计</a:t>
          </a:r>
        </a:p>
      </p:txBody>
    </p:sp>
    <p:sp>
      <p:nvSpPr>
        <p:cNvPr id="81" name="Body"/>
        <p:cNvSpPr>
          <a:spLocks noGrp="1"/>
        </p:cNvSpPr>
        <p:nvPr/>
      </p:nvSpPr>
      <p:spPr>
        <a:xfrm>
          <a:off x="800000" y="1200000"/>
          <a:ext cx="10600000" cy="5000000"/>
        </a:xfrm>
      </p:spPr>
      <p:txBody>
        <a:bodyPr wrap="square" rtlCol="0"/>
        <a:lstStyle/>
        <a:p>
          <a:r>
            <a:rPr lang="zh-CN" sz="1400">
              <a:solidFill>
                <a:srgbClr val="2D2D2D"/>
              </a:solidFill>
            </a:rPr>
            <a:t>七、评价设计</a:t>
          </a:r>
          <a:r>
            <a:rPr lang="zh-CN" sz="1400"/>
            <a:t>### ⭐ 作品评价</a:t>
          </a:r>
          <a:r>
            <a:rPr lang="zh-CN" sz="1400"/>
            <a:t>| 评价维度 | 评价要点 |</a:t>
          </a:r>
          <a:r>
            <a:rPr lang="zh-CN" sz="1400"/>
            <a:t>|:---------|:---------|</a:t>
          </a:r>
          <a:r>
            <a:rPr lang="zh-CN" sz="1400"/>
            <a:t>| **色彩搭配** | 是否能运用邻近色或对比色进行配色；整体是否协调 |</a:t>
          </a:r>
          <a:r>
            <a:rPr lang="zh-CN" sz="1400"/>
            <a:t>| **创意表现** | 是否有独特的配色想法；是否体现个人想法 |</a:t>
          </a:r>
          <a:r>
            <a:rPr lang="zh-CN" sz="1400"/>
            <a:t>| **画面完整** | 构图是否饱满；色彩是否饱满丰富 |</a:t>
          </a:r>
          <a:r>
            <a:rPr lang="zh-CN" sz="1400"/>
            <a:t>| **文化感知** | 是否关注并融入传统文化元素（如敦煌元素） |</a:t>
          </a:r>
          <a:r>
            <a:rPr lang="zh-CN" sz="1400"/>
            <a:t>### 📝 过程评价</a:t>
          </a:r>
          <a:r>
            <a:rPr lang="zh-CN" sz="1400"/>
            <a:t>| 观察要点 | 观察时机 |</a:t>
          </a:r>
          <a:r>
            <a:rPr lang="zh-CN" sz="1400"/>
            <a:t>|:---------|:---------|</a:t>
          </a:r>
          <a:r>
            <a:rPr lang="zh-CN" sz="1400"/>
            <a:t>| 能否积极参与色相环探究活动 | 环节二 |</a:t>
          </a:r>
        </a:p>
      </p:txBody>
    </p:sp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>
      <p:nvSpPr>
        <p:cNvPr id="92" name="AccentBar"/>
        <p:cNvSpPr>
          <a:spLocks noGrp="1"/>
        </p:cNvSpPr>
        <p:nvPr/>
      </p:nvSpPr>
      <p:spPr>
        <a:xfrm>
          <a:off x="0" y="0"/>
          <a:ext cx="12192000" y="60000"/>
        </a:xfrm>
        <a:solidFill>
          <a:srgbClr val="457B9D"/>
        </a:solidFill>
      </p:spPr>
    </p:sp>
    <p:sp>
      <p:nvSpPr>
        <p:cNvPr id="90" name="Title"/>
        <p:cNvSpPr>
          <a:spLocks noGrp="1"/>
        </p:cNvSpPr>
        <p:nvPr/>
      </p:nvSpPr>
      <p:spPr>
        <a:xfrm>
          <a:off x="600000" y="250000"/>
          <a:ext cx="11000000" cy="700000"/>
        </a:xfrm>
      </p:spPr>
      <p:txBody>
        <a:bodyPr/>
        <a:lstStyle/>
        <a:p>
          <a:r>
            <a:rPr lang="zh-CN" sz="2400" b="1">
              <a:solidFill>
                <a:srgbClr val="457B9D"/>
              </a:solidFill>
            </a:rPr>
            <a:t>💡 板书设计</a:t>
          </a:r>
        </a:p>
      </p:txBody>
    </p:sp>
    <p:sp>
      <p:nvSpPr>
        <p:cNvPr id="91" name="Body"/>
        <p:cNvSpPr>
          <a:spLocks noGrp="1"/>
        </p:cNvSpPr>
        <p:nvPr/>
      </p:nvSpPr>
      <p:spPr>
        <a:xfrm>
          <a:off x="800000" y="1200000"/>
          <a:ext cx="10600000" cy="5000000"/>
        </a:xfrm>
      </p:spPr>
      <p:txBody>
        <a:bodyPr wrap="square" rtlCol="0"/>
        <a:lstStyle/>
        <a:p>
          <a:r>
            <a:rPr lang="zh-CN" sz="1400">
              <a:solidFill>
                <a:srgbClr val="2D2D2D"/>
              </a:solidFill>
            </a:rPr>
            <a:t>八、板书设计</a:t>
          </a:r>
          <a:r>
            <a:rPr lang="zh-CN" sz="1400"/>
            <a:t>```</a:t>
          </a:r>
          <a:r>
            <a:rPr lang="zh-CN" sz="1400"/>
            <a:t>                    美丽的色彩世界</a:t>
          </a:r>
          <a:r>
            <a:rPr lang="zh-CN" sz="1400"/>
            <a:t>    ┌─────────────────┐</a:t>
          </a:r>
          <a:r>
            <a:rPr lang="zh-CN" sz="1400"/>
            <a:t>    │    色 相 环      │</a:t>
          </a:r>
          <a:r>
            <a:rPr lang="zh-CN" sz="1400"/>
            <a:t>    │  🔴🟠🟡🟢🔵🟣    │</a:t>
          </a:r>
          <a:r>
            <a:rPr lang="zh-CN" sz="1400"/>
            <a:t>    │  红 橙 黄 绿 蓝 紫 │</a:t>
          </a:r>
          <a:r>
            <a:rPr lang="zh-CN" sz="1400"/>
            <a:t>    └─────────────────┘</a:t>
          </a:r>
          <a:r>
            <a:rPr lang="zh-CN" sz="1400"/>
            <a:t>    ═══════════════════════════</a:t>
          </a:r>
          <a:r>
            <a:rPr lang="zh-CN" sz="1400"/>
            <a:t>    色彩搭配小秘诀：</a:t>
          </a:r>
        </a:p>
      </p:txBody>
    </p:sp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>
      <p:nvSpPr>
        <p:cNvPr id="1" name="Bar"/>
        <p:cNvSpPr>
          <a:spLocks noGrp="1"/>
        </p:cNvSpPr>
        <p:nvPr/>
      </p:nvSpPr>
      <p:spPr>
        <a:xfrm>
          <a:off x="0" y="0"/>
          <a:ext cx="12192000" y="80000"/>
        </a:xfrm>
        <a:solidFill>
          <a:srgbClr val="E8783B"/>
        </a:solidFill>
      </p:spPr>
    </p:sp>
    <p:sp>
      <p:nvSpPr>
        <p:cNvPr id="2" name="Thanks"/>
        <p:cNvSpPr>
          <a:spLocks noGrp="1"/>
        </p:cNvSpPr>
        <p:nvPr/>
      </p:nvSpPr>
      <p:spPr>
        <a:xfrm>
          <a:off x="1500000" y="2400000"/>
          <a:ext cx="9200000" cy="1500000"/>
        </a:xfrm>
      </p:spPr>
      <p:txBody>
        <a:bodyPr/>
        <a:lstStyle/>
        <a:p>
          <a:r>
            <a:rPr lang="zh-CN" sz="4000" b="1">
              <a:solidFill>
                <a:srgbClr val="E8783B"/>
              </a:solidFill>
            </a:rPr>
            <a:t>感谢聆听</a:t>
          </a:r>
        </a:p>
      </p:txBody>
    </p:sp>
    <p:sp>
      <p:nvSpPr>
        <p:cNvPr id="3" name="Tagline"/>
        <p:cNvSpPr>
          <a:spLocks noGrp="1"/>
        </p:cNvSpPr>
        <p:nvPr/>
      </p:nvSpPr>
      <p:spPr>
        <a:xfrm>
          <a:off x="1500000" y="4200000"/>
          <a:ext cx="9200000" cy="500000"/>
        </a:xfrm>
      </p:spPr>
      <p:txBody>
        <a:bodyPr/>
        <a:lstStyle/>
        <a:p>
          <a:r>
            <a:rPr lang="zh-CN" sz="1400">
              <a:solidFill>
                <a:srgbClr val="A0988C"/>
              </a:solidFill>
            </a:rPr>
            <a:t>用画笔表达世界 · 用美育滋养心灵</a:t>
          </a:r>
        </a:p>
      </p:txBody>
    </p:sp>
  </p:cSld>
</p:sld>
</file>

<file path=ppt/theme/theme1.xml><?xml version="1.0" encoding="utf-8"?>
<a:theme xmlns:a="http://schemas.openxmlformats.org/drawingml/2006/main" name="Edu Theme">
  <a:themeElements>
    <a:clrScheme name="Edu">
      <a:dk1>
        <a:srgbClr val="2D2D2D"/>
      </a:dk1>
      <a:lt1>
        <a:srgbClr val="FFFFFF"/>
      </a:lt1>
      <a:dk2>
        <a:srgbClr val="E8783B"/>
      </a:dk2>
      <a:lt2>
        <a:srgbClr val="FEF9F4"/>
      </a:lt2>
      <a:accent1>
        <a:srgbClr val="E8783B"/>
      </a:accent1>
      <a:accent2>
        <a:srgbClr val="F4A261"/>
      </a:accent2>
      <a:accent3>
        <a:srgbClr val="457B9D"/>
      </a:accent3>
      <a:accent4>
        <a:srgbClr val="52B788"/>
      </a:accent4>
      <a:accent5>
        <a:srgbClr val="E9C46A"/>
      </a:accent5>
      <a:accent6>
        <a:srgbClr val="A0988C"/>
      </a:accent6>
      <a:hlink>
        <a:srgbClr val="457B9D"/>
      </a:hlink>
      <a:folHlink>
        <a:srgbClr val="E8783B"/>
      </a:folHlink>
    </a:clrScheme>
    <a:fontScheme name="Edu">
      <a:majorFont>
        <a:latin typeface="Calibri"/>
        <a:ea typeface="Microsoft YaHei"/>
      </a:majorFont>
      <a:minorFont>
        <a:latin typeface="Calibri"/>
        <a:ea typeface="Microsoft YaHei"/>
      </a:minorFont>
    </a:fontScheme>
    <a:fmtScheme name="Edu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</a:fmtScheme>
  </a:themeElements>
</a:theme>
</file>

<file path=docProps/app.xml><?xml version="1.0" encoding="utf-8"?>
<Properties xmlns="http://schemas.openxmlformats.org/officeDocument/2006/extended-properties">
  <Application>画语小精灵</Application>
  <Slides>8</Slides>
</Properties>
</file>

<file path=docProps/core.xml><?xml version="1.0" encoding="utf-8"?>
<cp:coreProperties xmlns:cp="http://schemas.openxmlformats.org/package/2006/metadata/core-properties">
  <dc:creator xmlns:dc="http://purl.org/dc/elements/1.1/">画语小精灵</dc:creator>
</cp:coreProperties>
</file>